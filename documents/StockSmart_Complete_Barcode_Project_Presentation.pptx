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71" r:id="rId22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365760"/>
            <a:ext cx="1554480" cy="1554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1280160"/>
            <a:ext cx="822960" cy="8229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82880" y="5669280"/>
            <a:ext cx="1005840" cy="10058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7040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STOCKSMART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7360"/>
            <a:ext cx="7680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0">
                <a:solidFill>
                  <a:srgbClr val="BFDBFE"/>
                </a:solidFill>
              </a:defRPr>
            </a:pPr>
            <a:r>
              <a:t>Retail Inventory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212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A5F3FC"/>
                </a:solidFill>
              </a:defRPr>
            </a:pPr>
            <a:r>
              <a:t>Angular  •  Spring Boot  • 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694944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</a:defRPr>
            </a:pPr>
            <a:r>
              <a:t>A full-stack solution for products, suppliers, stores, inventory, orders and real-time stock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201168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2011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B.Tech CSE Project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4617720"/>
            <a:ext cx="274320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4617720"/>
            <a:ext cx="27432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ABES Engineering College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965960"/>
            <a:ext cx="24688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965960"/>
            <a:ext cx="24688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14253F"/>
                </a:solidFill>
              </a:defRPr>
            </a:pPr>
            <a:r>
              <a:t>ABES</a:t>
            </a:r>
            <a:br/>
            <a:r>
              <a:t>LOGO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4253F"/>
                </a:solidFill>
              </a:defRPr>
            </a:pPr>
            <a:r>
              <a:t>Why StockSmart?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Stock mismatch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297180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Manual records can become inconsistent across products, stores and orders.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81912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Late reordering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84248"/>
            <a:ext cx="297180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Without minimum-stock visibility, replenishment may happen too 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581912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Disconnected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984248"/>
            <a:ext cx="297180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Suppliers, inventory and customer orders need one connected workflow.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77639"/>
            <a:ext cx="9601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14253F"/>
                </a:solidFill>
              </a:defRPr>
            </a:pPr>
            <a:r>
              <a:t>StockSmart centralizes these operations into one database-backed web application.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4253F"/>
                </a:solidFill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600200"/>
            <a:ext cx="640080" cy="6400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4253F"/>
                </a:solidFill>
              </a:defRPr>
            </a:pPr>
            <a:r>
              <a:t>Master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16352"/>
            <a:ext cx="1828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Products, suppliers, customers, categories &amp; stores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56231" y="1920240"/>
            <a:ext cx="1024129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474720" y="160020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00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2316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4253F"/>
                </a:solidFill>
              </a:defRPr>
            </a:pPr>
            <a: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816352"/>
            <a:ext cx="1828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Track stock by product and store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42231" y="1920240"/>
            <a:ext cx="1024129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42316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4253F"/>
                </a:solidFill>
              </a:defRPr>
            </a:pPr>
            <a:r>
              <a:t>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816352"/>
            <a:ext cx="1828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Create orders and add order items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28232" y="1920240"/>
            <a:ext cx="1024128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046720" y="160020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1600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42316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4253F"/>
                </a:solidFill>
              </a:defRPr>
            </a:pPr>
            <a:r>
              <a:t>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816352"/>
            <a:ext cx="1828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Reduce stock automatically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14232" y="1920240"/>
            <a:ext cx="1024128" cy="0"/>
          </a:xfrm>
          <a:prstGeom prst="line">
            <a:avLst/>
          </a:prstGeom>
          <a:ln w="254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332720" y="160020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0" y="160020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242316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4253F"/>
                </a:solidFill>
              </a:defRPr>
            </a:pPr>
            <a:r>
              <a:t>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2816352"/>
            <a:ext cx="1828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Low-stock alerts and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4253F"/>
                </a:solidFill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32918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80160" y="1874519"/>
            <a:ext cx="22860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874519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ANGULAR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4253F"/>
                </a:solidFill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2651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Standalone components</a:t>
            </a:r>
            <a:br/>
            <a:r>
              <a:t>Routing • Forms • HttpClient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554480"/>
            <a:ext cx="32918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74920" y="1874519"/>
            <a:ext cx="228600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874519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SPRING BOOT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60604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4253F"/>
                </a:solidFill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154680"/>
            <a:ext cx="2651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REST Controllers</a:t>
            </a:r>
            <a:br/>
            <a:r>
              <a:t>Service • Repository • JPA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554480"/>
            <a:ext cx="32918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69680" y="1874519"/>
            <a:ext cx="228600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874519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60604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4253F"/>
                </a:solidFill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154680"/>
            <a:ext cx="2651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Persistent relational storage</a:t>
            </a:r>
            <a:br/>
            <a:r>
              <a:t>Entity relationships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5394960"/>
            <a:ext cx="6583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4253F"/>
                </a:solidFill>
              </a:defRPr>
            </a:pPr>
            <a:r>
              <a:t>Local Development:  Angular :4200   ⇄   Spring Boot :8081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4253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874519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Angular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Dashboard • Forms • Tables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04872" y="2267712"/>
            <a:ext cx="411480" cy="4114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39" y="1828800"/>
            <a:ext cx="1874519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2011680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REST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799" y="251460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Spring Boot Controllers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36592" y="2267712"/>
            <a:ext cx="411480" cy="4114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6359" y="1828800"/>
            <a:ext cx="1874519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799" y="2011680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Business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51460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Service Layer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68312" y="2267712"/>
            <a:ext cx="411480" cy="4114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79" y="1828800"/>
            <a:ext cx="1874519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2011680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Data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51460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JPA Repositories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00032" y="2267712"/>
            <a:ext cx="411480" cy="4114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29800" y="1828800"/>
            <a:ext cx="1874519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011680"/>
            <a:ext cx="1691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MySQL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514600"/>
            <a:ext cx="1600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Persistent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77639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</a:defRPr>
            </a:pPr>
            <a:r>
              <a:t>JSON / HTTP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977639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</a:defRPr>
            </a:pPr>
            <a:r>
              <a:t>Validation &amp; Stock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977639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</a:defRPr>
            </a:pPr>
            <a:r>
              <a:t>Hibernate / 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4253F"/>
                </a:solidFill>
              </a:defRPr>
            </a:pPr>
            <a:r>
              <a:t>Functional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819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84248"/>
            <a:ext cx="2103120" cy="8412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Catalog, price, SKU, barcode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1732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417320"/>
            <a:ext cx="73152" cy="1554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5819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Suppliers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984248"/>
            <a:ext cx="2103120" cy="8412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Contact &amp; supply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73152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5819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84248"/>
            <a:ext cx="2103120" cy="8412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Store-wise quantity &amp;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41732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417320"/>
            <a:ext cx="73152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15819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984248"/>
            <a:ext cx="2103120" cy="8412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Customer master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47472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474720"/>
            <a:ext cx="73152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6393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41648"/>
            <a:ext cx="2103120" cy="8412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Retail location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47472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0" y="347472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36393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4041648"/>
            <a:ext cx="2103120" cy="8412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Order header &amp; 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3474720"/>
            <a:ext cx="73152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6393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Order Items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041648"/>
            <a:ext cx="2103120" cy="8412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Products, qty &amp; price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3474720"/>
            <a:ext cx="25146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35440" y="3474720"/>
            <a:ext cx="73152" cy="1554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64040" y="3639312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4041648"/>
            <a:ext cx="2103120" cy="8412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KPIs &amp; low stock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ER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4253F"/>
                </a:solidFill>
              </a:defRPr>
            </a:pPr>
            <a:r>
              <a:t>Database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41732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417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4253F"/>
                </a:solidFill>
              </a:defRPr>
            </a:pPr>
            <a:r>
              <a:t>Supplier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97680"/>
            <a:ext cx="141732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417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4253F"/>
                </a:solidFill>
              </a:defRPr>
            </a:pPr>
            <a:r>
              <a:t>Category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880360"/>
            <a:ext cx="141732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880360"/>
            <a:ext cx="1417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Product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417320"/>
            <a:ext cx="141732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417320"/>
            <a:ext cx="1417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417320"/>
            <a:ext cx="141732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17320"/>
            <a:ext cx="1417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4253F"/>
                </a:solidFill>
              </a:defRPr>
            </a:pPr>
            <a:r>
              <a:t>Store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4297680"/>
            <a:ext cx="141732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4297680"/>
            <a:ext cx="1417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OrderItem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4297680"/>
            <a:ext cx="141732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4297680"/>
            <a:ext cx="1417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4253F"/>
                </a:solidFill>
              </a:defRPr>
            </a:pPr>
            <a:r>
              <a:t>Order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87000" y="4297680"/>
            <a:ext cx="141732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0" y="4297680"/>
            <a:ext cx="14173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4253F"/>
                </a:solidFill>
              </a:defRPr>
            </a:pPr>
            <a:r>
              <a:t>Customer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1755648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1 ─────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16052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1 ───── 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173736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Product 1:N Inventory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14884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Store 1:N Inventory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57200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Product 1:N OrderItem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89204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Order 1:N OrderItem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89204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Customer 1:N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92608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</a:defRPr>
            </a:pPr>
            <a:r>
              <a:t>Store 1:N 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CORE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4253F"/>
                </a:solidFill>
              </a:defRPr>
            </a:pPr>
            <a:r>
              <a:t>Inventory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9202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Select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1920239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Dropdown from Product API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44952" y="2057400"/>
            <a:ext cx="411480" cy="38404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160020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00200"/>
            <a:ext cx="73152" cy="1508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764792"/>
            <a:ext cx="19202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Select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167128"/>
            <a:ext cx="1920239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Dropdown from Store API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33872" y="2057400"/>
            <a:ext cx="411480" cy="38404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60020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60020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64792"/>
            <a:ext cx="19202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Set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67128"/>
            <a:ext cx="1920239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Quantity + minimum stock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622792" y="2057400"/>
            <a:ext cx="411480" cy="384048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59" y="1600200"/>
            <a:ext cx="2331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59" y="160020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1764792"/>
            <a:ext cx="192023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Save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2167128"/>
            <a:ext cx="1920239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POST /api/inventory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06908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</a:defRPr>
            </a:pPr>
            <a:r>
              <a:t>LOW STOCK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886200"/>
            <a:ext cx="4663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14253F"/>
                </a:solidFill>
              </a:defRPr>
            </a:pPr>
            <a:r>
              <a:t>Quantity  ≤  Minimum Stock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977639"/>
            <a:ext cx="2560320" cy="43891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977639"/>
            <a:ext cx="2560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Dedicated low-stock 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TRANSACTION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4253F"/>
                </a:solidFill>
              </a:defRPr>
            </a:pPr>
            <a:r>
              <a:t>Order 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07592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Create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307592"/>
            <a:ext cx="7040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Customer + Store + Date + Status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40280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21992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Add Order 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221992"/>
            <a:ext cx="7040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Product + Quantity + Price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15468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36392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Validate 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136392"/>
            <a:ext cx="7040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Check selected store inventory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0690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50792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Update 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050792"/>
            <a:ext cx="7040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Subtract ordered quantity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983480"/>
            <a:ext cx="502920" cy="5029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965192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Refresh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965192"/>
            <a:ext cx="7040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Low stock +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BUSINESS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4253F"/>
                </a:solidFill>
              </a:defRPr>
            </a:pPr>
            <a:r>
              <a:t>Automatic Stock Reduction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563EB"/>
                </a:solidFill>
              </a:defRPr>
            </a:pPr>
            <a:r>
              <a:t>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1508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Before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2560320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Inventory quantity = 20</a:t>
            </a:r>
            <a:br/>
            <a:r>
              <a:t>Minimum stock =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82880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93392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Order Item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95728"/>
            <a:ext cx="2560320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Requested quantity = 3</a:t>
            </a:r>
            <a:br/>
            <a:r>
              <a:t>Product + Store matched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828800"/>
            <a:ext cx="2971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49640" y="1828800"/>
            <a:ext cx="73152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993392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After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395728"/>
            <a:ext cx="2560320" cy="795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New inventory quantity = 17</a:t>
            </a:r>
            <a:br/>
            <a:r>
              <a:t>Saved automatically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822191" y="2331720"/>
            <a:ext cx="54864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754112" y="2331720"/>
            <a:ext cx="548640" cy="41148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80360" y="4160520"/>
            <a:ext cx="6492240" cy="43891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4160520"/>
            <a:ext cx="64922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If requested quantity &gt; available stock → Reject as insufficient 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LIVE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4253F"/>
                </a:solidFill>
              </a:defRPr>
            </a:pPr>
            <a:r>
              <a:t>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2331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2331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2563EB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2331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4253F"/>
                </a:solidFill>
              </a:defRPr>
            </a:pPr>
            <a:r>
              <a:t>Products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00200"/>
            <a:ext cx="2331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74519"/>
            <a:ext cx="2331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10B981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97480"/>
            <a:ext cx="2331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4253F"/>
                </a:solidFill>
              </a:defRPr>
            </a:pPr>
            <a:r>
              <a:t>Orders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600200"/>
            <a:ext cx="2331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1874519"/>
            <a:ext cx="2331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06B6D4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79" y="2697480"/>
            <a:ext cx="2331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4253F"/>
                </a:solidFill>
              </a:defRPr>
            </a:pPr>
            <a:r>
              <a:t>Customer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999" y="1600200"/>
            <a:ext cx="23317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3999" y="1874519"/>
            <a:ext cx="2331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F59E0B"/>
                </a:solidFill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999" y="2697480"/>
            <a:ext cx="2331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4253F"/>
                </a:solidFill>
              </a:defRPr>
            </a:pPr>
            <a:r>
              <a:t>Low Stock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25196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14253F"/>
                </a:solidFill>
              </a:defRPr>
            </a:pPr>
            <a:r>
              <a:t>GET /api/dashboard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937760"/>
            <a:ext cx="8503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Counts are fetched from backend repositories and rendered dynamically in Angular.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4253F"/>
                </a:solidFill>
              </a:defRPr>
            </a:pPr>
            <a:r>
              <a:t>REST API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/api/products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92807"/>
            <a:ext cx="301752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Product CRUD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49047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/api/suppliers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892807"/>
            <a:ext cx="301752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Supplier CRUD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325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1325880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49047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/api/inventory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892807"/>
            <a:ext cx="301752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Inventory CRUD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898648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2898648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/api/inventory/low-stock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65576"/>
            <a:ext cx="301752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Low-stock 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898648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898648"/>
            <a:ext cx="73152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06324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/api/customers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465576"/>
            <a:ext cx="301752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Customer CRUD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2898648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2898648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063240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/api/stores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465576"/>
            <a:ext cx="301752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Store CRUD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471416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4471416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636007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/api/orders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038344"/>
            <a:ext cx="301752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Order CRUD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4471416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4471416"/>
            <a:ext cx="73152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4636007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/api/order-items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5038344"/>
            <a:ext cx="301752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Order items + stock update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80" y="4471416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80" y="4471416"/>
            <a:ext cx="73152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636007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/api/dashboard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038344"/>
            <a:ext cx="3017520" cy="5212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KPI summary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4253F"/>
                </a:solidFill>
              </a:defRPr>
            </a:pPr>
            <a:r>
              <a:t>End-to-End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2918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916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2331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53F"/>
                </a:solidFill>
              </a:defRPr>
            </a:pPr>
            <a:r>
              <a:t>Create Product / Store / Customer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2918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916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600200"/>
            <a:ext cx="2331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53F"/>
                </a:solidFill>
              </a:defRPr>
            </a:pPr>
            <a:r>
              <a:t>Add Inventory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32918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6916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600200"/>
            <a:ext cx="2331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53F"/>
                </a:solidFill>
              </a:defRPr>
            </a:pPr>
            <a:r>
              <a:t>Create Order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39"/>
            <a:ext cx="32918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794759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03320"/>
            <a:ext cx="2331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53F"/>
                </a:solidFill>
              </a:defRPr>
            </a:pPr>
            <a:r>
              <a:t>Add Order Item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520439"/>
            <a:ext cx="32918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3712" y="3794759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703320"/>
            <a:ext cx="2331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53F"/>
                </a:solidFill>
              </a:defRPr>
            </a:pPr>
            <a:r>
              <a:t>Verify Stock Decrease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520439"/>
            <a:ext cx="329184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3794759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4253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703320"/>
            <a:ext cx="2331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4253F"/>
                </a:solidFill>
              </a:defRPr>
            </a:pPr>
            <a:r>
              <a:t>Check Low Stock &amp;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3840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</a:defRPr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4253F"/>
                </a:solidFill>
              </a:defRPr>
            </a:pPr>
            <a: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10058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29260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29968"/>
            <a:ext cx="2926079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Login and role-based access for admin, manager and staff.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6304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63040"/>
            <a:ext cx="73152" cy="1645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27632"/>
            <a:ext cx="29260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>
                <a:latin typeface="Aptos"/>
              </a:rPr>
              <a:t>RFID Integration</a:t>
            </a:r>
          </a:p>
          <a:p>
            <a:r>
              <a:rPr sz="1700">
                <a:latin typeface="Aptos"/>
              </a:rPr>
              <a:t>RFID readers and tags can be added for automatic multi-item identification and tracking.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29968"/>
            <a:ext cx="2926079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Fast product identification and stock movement.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73152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27632"/>
            <a:ext cx="29260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29968"/>
            <a:ext cx="2926079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Sales trends, reorder recommendations and KPI charts.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749039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3749039"/>
            <a:ext cx="7315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3913631"/>
            <a:ext cx="29260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Purchase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4315968"/>
            <a:ext cx="2926079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Supplier purchase orders and replenishment tracking.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749039"/>
            <a:ext cx="33375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749039"/>
            <a:ext cx="73152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913631"/>
            <a:ext cx="29260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4253F"/>
                </a:solidFill>
              </a:defRPr>
            </a:pPr>
            <a:r>
              <a:t>Cloud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315968"/>
            <a:ext cx="2926079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</a:defRPr>
            </a:pPr>
            <a:r>
              <a:t>Host frontend, API and database for multi-device access.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5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STOCKSMART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76809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0">
                <a:solidFill>
                  <a:srgbClr val="BFDBFE"/>
                </a:solidFill>
              </a:defRPr>
            </a:pPr>
            <a:r>
              <a:t>From product catalog to automatic stock control.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743200"/>
            <a:ext cx="310896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3108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Full-stack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59" y="2743200"/>
            <a:ext cx="310896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59" y="2743200"/>
            <a:ext cx="3108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Connected retail 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20440"/>
            <a:ext cx="3108960" cy="43891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3108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Automatic inventory reduction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3520440"/>
            <a:ext cx="310896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3520440"/>
            <a:ext cx="3108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Low-stock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97680"/>
            <a:ext cx="3108960" cy="43891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0"/>
            <a:ext cx="31089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Dashboard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166360"/>
            <a:ext cx="2834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576072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500" b="0">
                <a:solidFill>
                  <a:srgbClr val="BFDBFE"/>
                </a:solidFill>
              </a:defRPr>
            </a:pPr>
            <a:r>
              <a:t>Questions?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4114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Aptos Display"/>
              </a:defRPr>
            </a:pPr>
            <a:r>
              <a:t>BARCODE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  <a:latin typeface="Aptos"/>
              </a:defRPr>
            </a:pPr>
            <a:r>
              <a:t>Implemented in the Product module for product identification and inventory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2120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What StockSmart supports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• Barcode is stored with each product record.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• Product form includes a dedicated Barcode field.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• Barcode becomes part of the product master data.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• It can be used to identify products during inventory and order workflows.</a:t>
            </a:r>
          </a:p>
          <a:p>
            <a:pPr>
              <a:spcAft>
                <a:spcPts val="1200"/>
              </a:spcAft>
              <a:defRPr sz="1600">
                <a:solidFill>
                  <a:srgbClr val="334155"/>
                </a:solidFill>
                <a:latin typeface="Aptos"/>
              </a:defRPr>
            </a:pPr>
            <a:r>
              <a:t>• Barcode scanning hardware can be connected later.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303520" cy="41605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Example Product Barcode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2606040"/>
            <a:ext cx="457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07124" y="2606040"/>
            <a:ext cx="914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30568" y="2606040"/>
            <a:ext cx="27432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90004" y="2606040"/>
            <a:ext cx="164592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2606040"/>
            <a:ext cx="54864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3468" y="2606040"/>
            <a:ext cx="36576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42048" y="2606040"/>
            <a:ext cx="109728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83779" y="2606040"/>
            <a:ext cx="27432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43215" y="2606040"/>
            <a:ext cx="73152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48371" y="2606040"/>
            <a:ext cx="13716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17536" y="2606040"/>
            <a:ext cx="36576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86115" y="2606040"/>
            <a:ext cx="9144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59" y="2606040"/>
            <a:ext cx="54864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6427" y="2606040"/>
            <a:ext cx="27432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55863" y="2606040"/>
            <a:ext cx="109728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7595" y="2606040"/>
            <a:ext cx="457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19" y="2606040"/>
            <a:ext cx="73152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475" y="2606040"/>
            <a:ext cx="36576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9055" y="2606040"/>
            <a:ext cx="128016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09076" y="2606040"/>
            <a:ext cx="457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86800" y="2606040"/>
            <a:ext cx="82296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01100" y="2606040"/>
            <a:ext cx="27432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0536" y="2606040"/>
            <a:ext cx="109728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02267" y="2606040"/>
            <a:ext cx="457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79992" y="2606040"/>
            <a:ext cx="73152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85148" y="2606040"/>
            <a:ext cx="36576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53728" y="2606040"/>
            <a:ext cx="146304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432036" y="2606040"/>
            <a:ext cx="54864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18904" y="2606040"/>
            <a:ext cx="27432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78340" y="2606040"/>
            <a:ext cx="100584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461772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8901234567890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138928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CBD5E1"/>
                </a:solidFill>
              </a:defRPr>
            </a:pPr>
            <a:r>
              <a:t>Product → Barcode → Product record → Inventory / Order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